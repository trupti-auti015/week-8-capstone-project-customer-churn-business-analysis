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9B2CCA4-BDD4-4B79-B549-568642FECF82}" type="datetimeFigureOut">
              <a:rPr lang="en-IN" smtClean="0"/>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16EEB6F-16A8-4C52-BEE9-27D975B5363C}" type="slidenum">
              <a:rPr lang="en-IN" smtClean="0"/>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99B2CCA4-BDD4-4B79-B549-568642FECF8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9B2CCA4-BDD4-4B79-B549-568642FECF8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99B2CCA4-BDD4-4B79-B549-568642FECF8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99B2CCA4-BDD4-4B79-B549-568642FECF8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99B2CCA4-BDD4-4B79-B549-568642FECF82}" type="datetimeFigureOut">
              <a:rPr lang="en-IN" smtClean="0"/>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9B2CCA4-BDD4-4B79-B549-568642FECF82}" type="datetimeFigureOut">
              <a:rPr lang="en-IN" smtClean="0"/>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9B2CCA4-BDD4-4B79-B549-568642FECF8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smtClean="0"/>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9B2CCA4-BDD4-4B79-B549-568642FECF8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99B2CCA4-BDD4-4B79-B549-568642FECF82}" type="datetimeFigureOut">
              <a:rPr lang="en-IN" smtClean="0"/>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showMasterSp="0">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9B2CCA4-BDD4-4B79-B549-568642FECF8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panose="020B0604020202020204"/>
                <a:cs typeface="Arial" panose="020B0604020202020204"/>
              </a:rPr>
              <a:t>“</a:t>
            </a:r>
            <a:endParaRPr lang="en-US" sz="9600" b="0" i="0" dirty="0">
              <a:solidFill>
                <a:schemeClr val="accent1">
                  <a:lumMod val="60000"/>
                  <a:lumOff val="40000"/>
                </a:schemeClr>
              </a:solidFill>
              <a:latin typeface="Arial" panose="020B0604020202020204"/>
              <a:cs typeface="Arial" panose="020B0604020202020204"/>
            </a:endParaRP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panose="020B0604020202020204"/>
                <a:cs typeface="Arial" panose="020B0604020202020204"/>
              </a:rPr>
              <a:t>”</a:t>
            </a:r>
            <a:endParaRPr lang="en-US" sz="9600" b="0" i="0" dirty="0">
              <a:solidFill>
                <a:schemeClr val="accent1">
                  <a:lumMod val="60000"/>
                  <a:lumOff val="40000"/>
                </a:schemeClr>
              </a:solidFill>
              <a:latin typeface="Arial" panose="020B0604020202020204"/>
              <a:cs typeface="Arial" panose="020B0604020202020204"/>
            </a:endParaRP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smtClean="0"/>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9B2CCA4-BDD4-4B79-B549-568642FECF8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showMasterSp="0">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99B2CCA4-BDD4-4B79-B549-568642FECF8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9B2CCA4-BDD4-4B79-B549-568642FECF82}" type="datetimeFigureOut">
              <a:rPr lang="en-IN" smtClean="0"/>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9B2CCA4-BDD4-4B79-B549-568642FECF82}" type="datetimeFigureOut">
              <a:rPr lang="en-IN" smtClean="0"/>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9B2CCA4-BDD4-4B79-B549-568642FECF8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9B2CCA4-BDD4-4B79-B549-568642FECF82}" type="datetimeFigureOut">
              <a:rPr lang="en-IN" smtClean="0"/>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16EEB6F-16A8-4C52-BEE9-27D975B5363C}" type="slidenum">
              <a:rPr lang="en-IN" smtClean="0"/>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image" Target="../media/image1.jpeg"/><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8">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9B2CCA4-BDD4-4B79-B549-568642FECF82}" type="datetimeFigureOut">
              <a:rPr lang="en-IN" smtClean="0"/>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16EEB6F-16A8-4C52-BEE9-27D975B5363C}" type="slidenum">
              <a:rPr lang="en-IN" smtClean="0"/>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panose="05040102010807070707"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panose="05040102010807070707"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panose="05040102010807070707"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hyperlink" Target="https://scikit-learn.org/" TargetMode="External"/><Relationship Id="rId5" Type="http://schemas.openxmlformats.org/officeDocument/2006/relationships/hyperlink" Target="https://seaborn.pydata.org/" TargetMode="External"/><Relationship Id="rId4" Type="http://schemas.openxmlformats.org/officeDocument/2006/relationships/hyperlink" Target="https://matplotlib.org/" TargetMode="External"/><Relationship Id="rId3" Type="http://schemas.openxmlformats.org/officeDocument/2006/relationships/hyperlink" Target="https://numpy.org/" TargetMode="External"/><Relationship Id="rId2" Type="http://schemas.openxmlformats.org/officeDocument/2006/relationships/hyperlink" Target="https://pandas.pydata.org/" TargetMode="External"/><Relationship Id="rId1" Type="http://schemas.openxmlformats.org/officeDocument/2006/relationships/hyperlink" Target="https://www.python.org/"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smtClean="0">
                <a:latin typeface="Times New Roman" panose="02020603050405020304" pitchFamily="18" charset="0"/>
                <a:cs typeface="Times New Roman" panose="02020603050405020304" pitchFamily="18" charset="0"/>
              </a:rPr>
              <a:t>Customer </a:t>
            </a:r>
            <a:r>
              <a:rPr lang="en-IN" dirty="0">
                <a:latin typeface="Times New Roman" panose="02020603050405020304" pitchFamily="18" charset="0"/>
                <a:cs typeface="Times New Roman" panose="02020603050405020304" pitchFamily="18" charset="0"/>
              </a:rPr>
              <a:t>Churn Business </a:t>
            </a:r>
            <a:r>
              <a:rPr lang="en-IN" dirty="0" smtClean="0">
                <a:latin typeface="Times New Roman" panose="02020603050405020304" pitchFamily="18" charset="0"/>
                <a:cs typeface="Times New Roman" panose="02020603050405020304" pitchFamily="18" charset="0"/>
              </a:rPr>
              <a:t>   Analysis </a:t>
            </a:r>
            <a:br>
              <a:rPr lang="en-IN" dirty="0" smtClean="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t>
            </a:r>
            <a:r>
              <a:rPr lang="en-IN" dirty="0" smtClean="0">
                <a:latin typeface="Times New Roman" panose="02020603050405020304" pitchFamily="18" charset="0"/>
                <a:cs typeface="Times New Roman" panose="02020603050405020304" pitchFamily="18" charset="0"/>
              </a:rPr>
              <a:t>                             </a:t>
            </a:r>
            <a:r>
              <a:rPr lang="en-IN" sz="1800" dirty="0" err="1" smtClean="0">
                <a:latin typeface="Times New Roman" panose="02020603050405020304" pitchFamily="18" charset="0"/>
                <a:cs typeface="Times New Roman" panose="02020603050405020304" pitchFamily="18" charset="0"/>
              </a:rPr>
              <a:t>Submiteed</a:t>
            </a:r>
            <a:r>
              <a:rPr lang="en-IN" sz="1800" dirty="0" smtClean="0">
                <a:latin typeface="Times New Roman" panose="02020603050405020304" pitchFamily="18" charset="0"/>
                <a:cs typeface="Times New Roman" panose="02020603050405020304" pitchFamily="18" charset="0"/>
              </a:rPr>
              <a:t> by-</a:t>
            </a:r>
            <a:r>
              <a:rPr lang="en-IN" sz="1800" dirty="0" err="1" smtClean="0">
                <a:latin typeface="Times New Roman" panose="02020603050405020304" pitchFamily="18" charset="0"/>
                <a:cs typeface="Times New Roman" panose="02020603050405020304" pitchFamily="18" charset="0"/>
              </a:rPr>
              <a:t>Auti</a:t>
            </a:r>
            <a:r>
              <a:rPr lang="en-IN" sz="1800" dirty="0" smtClean="0">
                <a:latin typeface="Times New Roman" panose="02020603050405020304" pitchFamily="18" charset="0"/>
                <a:cs typeface="Times New Roman" panose="02020603050405020304" pitchFamily="18" charset="0"/>
              </a:rPr>
              <a:t> </a:t>
            </a:r>
            <a:r>
              <a:rPr lang="en-IN" sz="1800" dirty="0" err="1" smtClean="0">
                <a:latin typeface="Times New Roman" panose="02020603050405020304" pitchFamily="18" charset="0"/>
                <a:cs typeface="Times New Roman" panose="02020603050405020304" pitchFamily="18" charset="0"/>
              </a:rPr>
              <a:t>Trupti</a:t>
            </a:r>
            <a:r>
              <a:rPr lang="en-IN" sz="1800" dirty="0" smtClean="0">
                <a:latin typeface="Times New Roman" panose="02020603050405020304" pitchFamily="18" charset="0"/>
                <a:cs typeface="Times New Roman" panose="02020603050405020304" pitchFamily="18" charset="0"/>
              </a:rPr>
              <a:t> </a:t>
            </a:r>
            <a:r>
              <a:rPr lang="en-IN" sz="1800" dirty="0" err="1" smtClean="0">
                <a:latin typeface="Times New Roman" panose="02020603050405020304" pitchFamily="18" charset="0"/>
                <a:cs typeface="Times New Roman" panose="02020603050405020304" pitchFamily="18" charset="0"/>
              </a:rPr>
              <a:t>Goraksh</a:t>
            </a:r>
            <a:endParaRPr lang="en-IN" sz="1800" dirty="0">
              <a:latin typeface="Times New Roman" panose="02020603050405020304" pitchFamily="18" charset="0"/>
              <a:cs typeface="Times New Roman" panose="02020603050405020304" pitchFamily="18" charset="0"/>
            </a:endParaRPr>
          </a:p>
        </p:txBody>
      </p:sp>
      <p:sp>
        <p:nvSpPr>
          <p:cNvPr id="3" name="Subtitle 2"/>
          <p:cNvSpPr>
            <a:spLocks noGrp="1"/>
          </p:cNvSpPr>
          <p:nvPr>
            <p:ph type="subTitle" idx="1"/>
          </p:nvPr>
        </p:nvSpPr>
        <p:spPr/>
        <p:txBody>
          <a:bodyPr/>
          <a:lstStyle/>
          <a:p>
            <a:r>
              <a:rPr lang="en-US" dirty="0" smtClean="0"/>
              <a:t>                                                                          </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Introduction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154954" y="2338252"/>
            <a:ext cx="9909286" cy="3931920"/>
          </a:xfrm>
        </p:spPr>
        <p:txBody>
          <a:bodyPr>
            <a:normAutofit/>
          </a:bodyPr>
          <a:lstStyle/>
          <a:p>
            <a:r>
              <a:rPr lang="en-US" sz="2000" dirty="0">
                <a:latin typeface="Times New Roman" panose="02020603050405020304" pitchFamily="18" charset="0"/>
                <a:cs typeface="Times New Roman" panose="02020603050405020304" pitchFamily="18" charset="0"/>
              </a:rPr>
              <a:t>Customer churn is one of the major challenges faced by businesses, as losing customers directly impacts revenue and growth. Understanding customer behavior helps organizations improve customer satisfaction and retention</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IN" sz="2000" dirty="0" smtClean="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rPr>
              <a:t>This project, </a:t>
            </a:r>
            <a:r>
              <a:rPr lang="en-US" sz="2000" b="1" dirty="0">
                <a:latin typeface="Times New Roman" panose="02020603050405020304" pitchFamily="18" charset="0"/>
                <a:cs typeface="Times New Roman" panose="02020603050405020304" pitchFamily="18" charset="0"/>
              </a:rPr>
              <a:t>Customer Churn Business Analysis</a:t>
            </a:r>
            <a:r>
              <a:rPr lang="en-US" sz="2000" dirty="0">
                <a:latin typeface="Times New Roman" panose="02020603050405020304" pitchFamily="18" charset="0"/>
                <a:cs typeface="Times New Roman" panose="02020603050405020304" pitchFamily="18" charset="0"/>
              </a:rPr>
              <a:t>, performs an end-to-end analysis using Python. The project includes data cleaning, exploratory data analysis (EDA), data visualization, correlation analysis, hypothesis testing, and regression analysis. The objective is to identify customer churn patterns, generate meaningful business insights, and provide practical recommendations for improving customer retention.</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The project uses Python libraries such as Pandas, </a:t>
            </a:r>
            <a:r>
              <a:rPr lang="en-US" sz="2000" dirty="0" err="1">
                <a:latin typeface="Times New Roman" panose="02020603050405020304" pitchFamily="18" charset="0"/>
                <a:cs typeface="Times New Roman" panose="02020603050405020304" pitchFamily="18" charset="0"/>
              </a:rPr>
              <a:t>NumPy</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Matplotlib</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Seaborn</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SciPy</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Scikit</a:t>
            </a:r>
            <a:r>
              <a:rPr lang="en-US" sz="2000" dirty="0">
                <a:latin typeface="Times New Roman" panose="02020603050405020304" pitchFamily="18" charset="0"/>
                <a:cs typeface="Times New Roman" panose="02020603050405020304" pitchFamily="18" charset="0"/>
              </a:rPr>
              <a:t>-Learn to analyze the dataset and support data-driven business decisions.</a:t>
            </a:r>
            <a:endParaRPr lang="en-US" sz="2000" dirty="0">
              <a:latin typeface="Times New Roman" panose="02020603050405020304" pitchFamily="18" charset="0"/>
              <a:cs typeface="Times New Roman" panose="02020603050405020304" pitchFamily="18" charset="0"/>
            </a:endParaRPr>
          </a:p>
          <a:p>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a:t> </a:t>
            </a:r>
            <a:r>
              <a:rPr lang="en-US" altLang="en-US" b="1" dirty="0">
                <a:latin typeface="Times New Roman" panose="02020603050405020304" pitchFamily="18" charset="0"/>
                <a:cs typeface="Times New Roman" panose="02020603050405020304" pitchFamily="18" charset="0"/>
              </a:rPr>
              <a:t>Objectives of the Project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To analyze the customer churn dataset using Python</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clean and preprocess the data for accurate analysis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perform Exploratory Data Analysis (EDA) to understand customer behavior</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create visualizations for better data interpretation</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perform correlation, hypothesis testing, and regression analysis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To generate business insights and provide practical recommendations.</a:t>
            </a:r>
            <a:endParaRPr lang="en-US" sz="2000" dirty="0" smtClean="0">
              <a:latin typeface="Times New Roman" panose="02020603050405020304" pitchFamily="18" charset="0"/>
              <a:cs typeface="Times New Roman" panose="02020603050405020304" pitchFamily="18" charset="0"/>
            </a:endParaRPr>
          </a:p>
        </p:txBody>
      </p:sp>
      <p:sp>
        <p:nvSpPr>
          <p:cNvPr id="5" name="Rectangle 2"/>
          <p:cNvSpPr>
            <a:spLocks noChangeArrowheads="1"/>
          </p:cNvSpPr>
          <p:nvPr/>
        </p:nvSpPr>
        <p:spPr bwMode="auto">
          <a:xfrm>
            <a:off x="0" y="-184666"/>
            <a:ext cx="39305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marL="0" marR="0" lvl="0" indent="0" algn="l" defTabSz="914400" rtl="0" eaLnBrk="0" fontAlgn="base" latinLnBrk="0" hangingPunct="0">
              <a:lnSpc>
                <a:spcPct val="100000"/>
              </a:lnSpc>
              <a:spcBef>
                <a:spcPct val="0"/>
              </a:spcBef>
              <a:spcAft>
                <a:spcPct val="0"/>
              </a:spcAft>
              <a:buClrTx/>
              <a:buSzTx/>
              <a:buFontTx/>
              <a:buChar char="•"/>
            </a:pPr>
            <a:r>
              <a:rPr kumimoji="0" lang="en-US" sz="1800" b="0" i="0" u="none" strike="noStrike" cap="none" normalizeH="0" baseline="0" dirty="0" smtClean="0">
                <a:ln>
                  <a:noFill/>
                </a:ln>
                <a:solidFill>
                  <a:schemeClr val="tx1"/>
                </a:solidFill>
                <a:effectLst/>
                <a:latin typeface="Arial" panose="020B0604020202020204" pitchFamily="34" charset="0"/>
              </a:rPr>
              <a:t>. </a:t>
            </a:r>
            <a:endParaRPr kumimoji="0" lang="en-US" sz="1800" b="0" i="0" u="none" strike="noStrike" cap="none" normalizeH="0" baseline="0" dirty="0" smtClean="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761413" cy="706964"/>
          </a:xfrm>
        </p:spPr>
        <p:txBody>
          <a:bodyPr/>
          <a:lstStyle/>
          <a:p>
            <a:r>
              <a:rPr lang="en-US" altLang="en-US" b="1" dirty="0" smtClean="0"/>
              <a:t>              </a:t>
            </a:r>
            <a:r>
              <a:rPr lang="en-US" altLang="en-US" b="1" dirty="0" smtClean="0">
                <a:latin typeface="Times New Roman" panose="02020603050405020304" pitchFamily="18" charset="0"/>
                <a:cs typeface="Times New Roman" panose="02020603050405020304" pitchFamily="18" charset="0"/>
              </a:rPr>
              <a:t>Problem </a:t>
            </a:r>
            <a:r>
              <a:rPr lang="en-US" altLang="en-US" b="1" dirty="0">
                <a:latin typeface="Times New Roman" panose="02020603050405020304" pitchFamily="18" charset="0"/>
                <a:cs typeface="Times New Roman" panose="02020603050405020304" pitchFamily="18" charset="0"/>
              </a:rPr>
              <a:t>Definition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endParaRPr lang="en-US" sz="2000" dirty="0" smtClean="0"/>
          </a:p>
          <a:p>
            <a:r>
              <a:rPr lang="en-US" sz="2000" dirty="0">
                <a:latin typeface="Times New Roman" panose="02020603050405020304" pitchFamily="18" charset="0"/>
                <a:cs typeface="Times New Roman" panose="02020603050405020304" pitchFamily="18" charset="0"/>
              </a:rPr>
              <a:t>Customer churn is a major challenge for businesses because losing customers reduces revenue, profitability, and long-term growth. It is important to identify the factors that influence customer churn so that businesses can take preventive </a:t>
            </a:r>
            <a:r>
              <a:rPr lang="en-US" sz="2000" dirty="0" smtClean="0">
                <a:latin typeface="Times New Roman" panose="02020603050405020304" pitchFamily="18" charset="0"/>
                <a:cs typeface="Times New Roman" panose="02020603050405020304" pitchFamily="18" charset="0"/>
              </a:rPr>
              <a:t>actions</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The </a:t>
            </a:r>
            <a:r>
              <a:rPr lang="en-US" sz="2000" dirty="0">
                <a:latin typeface="Times New Roman" panose="02020603050405020304" pitchFamily="18" charset="0"/>
                <a:cs typeface="Times New Roman" panose="02020603050405020304" pitchFamily="18" charset="0"/>
              </a:rPr>
              <a:t>main problem addressed in this project is to analyze customer data, identify patterns related to customer churn, and provide data-driven recommendations to improve customer retention. By using Python and data analysis techniques, this project helps businesses understand customer behavior and make better strategic decisions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endParaRPr lang="en-US" dirty="0"/>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altLang="en-US" b="1" dirty="0">
                <a:latin typeface="Times New Roman" panose="02020603050405020304" pitchFamily="18" charset="0"/>
                <a:cs typeface="Times New Roman" panose="02020603050405020304" pitchFamily="18" charset="0"/>
              </a:rPr>
              <a:t>Scope of the Project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Autofit/>
          </a:bodyPr>
          <a:lstStyle/>
          <a:p>
            <a:r>
              <a:rPr lang="en-US" sz="2000" dirty="0">
                <a:latin typeface="Times New Roman" panose="02020603050405020304" pitchFamily="18" charset="0"/>
                <a:cs typeface="Times New Roman" panose="02020603050405020304" pitchFamily="18" charset="0"/>
              </a:rPr>
              <a:t>Analyze the customer churn dataset using Python</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Clean and preprocess the data for accurate analysis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Perform Exploratory Data Analysis (EDA</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Create charts and graphs for better data visualization</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Identify patterns and trends in customer </a:t>
            </a:r>
            <a:r>
              <a:rPr lang="en-US" sz="2000" dirty="0" smtClean="0">
                <a:latin typeface="Times New Roman" panose="02020603050405020304" pitchFamily="18" charset="0"/>
                <a:cs typeface="Times New Roman" panose="02020603050405020304" pitchFamily="18" charset="0"/>
              </a:rPr>
              <a:t>behavior</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Perform correlation analysis between different variables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Extend the project in the future using machine learning and interactive dashboards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Build a simple regression model for analysis.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altLang="en-US" b="1" dirty="0" smtClean="0">
                <a:latin typeface="Times New Roman" panose="02020603050405020304" pitchFamily="18" charset="0"/>
                <a:cs typeface="Times New Roman" panose="02020603050405020304" pitchFamily="18" charset="0"/>
              </a:rPr>
              <a:t>System </a:t>
            </a:r>
            <a:r>
              <a:rPr lang="en-US" altLang="en-US" b="1" dirty="0">
                <a:latin typeface="Times New Roman" panose="02020603050405020304" pitchFamily="18" charset="0"/>
                <a:cs typeface="Times New Roman" panose="02020603050405020304" pitchFamily="18" charset="0"/>
              </a:rPr>
              <a:t>Requirements</a:t>
            </a:r>
            <a:endParaRPr lang="en-IN" dirty="0">
              <a:latin typeface="Times New Roman" panose="02020603050405020304" pitchFamily="18" charset="0"/>
              <a:cs typeface="Times New Roman" panose="02020603050405020304" pitchFamily="18" charset="0"/>
            </a:endParaRPr>
          </a:p>
        </p:txBody>
      </p:sp>
      <p:sp>
        <p:nvSpPr>
          <p:cNvPr id="7" name="Rectangle 3"/>
          <p:cNvSpPr>
            <a:spLocks noGrp="1" noChangeArrowheads="1"/>
          </p:cNvSpPr>
          <p:nvPr>
            <p:ph idx="1"/>
          </p:nvPr>
        </p:nvSpPr>
        <p:spPr bwMode="auto">
          <a:xfrm>
            <a:off x="535577" y="2303408"/>
            <a:ext cx="9640389" cy="40164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r>
              <a:rPr lang="en-IN" b="1" dirty="0">
                <a:latin typeface="Times New Roman" panose="02020603050405020304" pitchFamily="18" charset="0"/>
                <a:cs typeface="Times New Roman" panose="02020603050405020304" pitchFamily="18" charset="0"/>
              </a:rPr>
              <a:t>Hardware Requirements</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Processor: Intel Core i3 or above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RAM: Minimum 4 GB (8 GB Recommended)</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Hard Disk: Minimum 2 GB Free Space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Display: 1366 × 768 Resolution or Higher</a:t>
            </a:r>
            <a:endParaRPr lang="en-IN" dirty="0">
              <a:latin typeface="Times New Roman" panose="02020603050405020304" pitchFamily="18" charset="0"/>
              <a:cs typeface="Times New Roman" panose="02020603050405020304" pitchFamily="18" charset="0"/>
            </a:endParaRPr>
          </a:p>
          <a:p>
            <a:r>
              <a:rPr lang="en-IN" b="1" dirty="0">
                <a:latin typeface="Times New Roman" panose="02020603050405020304" pitchFamily="18" charset="0"/>
                <a:cs typeface="Times New Roman" panose="02020603050405020304" pitchFamily="18" charset="0"/>
              </a:rPr>
              <a:t>Software Requirements</a:t>
            </a:r>
            <a:endParaRPr lang="en-IN" b="1"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Operating System: Windows 10/11</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Programming Language: Python 3.x</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IDE: </a:t>
            </a:r>
            <a:r>
              <a:rPr lang="en-IN" dirty="0" err="1">
                <a:latin typeface="Times New Roman" panose="02020603050405020304" pitchFamily="18" charset="0"/>
                <a:cs typeface="Times New Roman" panose="02020603050405020304" pitchFamily="18" charset="0"/>
              </a:rPr>
              <a:t>Jupyter</a:t>
            </a:r>
            <a:r>
              <a:rPr lang="en-IN" dirty="0">
                <a:latin typeface="Times New Roman" panose="02020603050405020304" pitchFamily="18" charset="0"/>
                <a:cs typeface="Times New Roman" panose="02020603050405020304" pitchFamily="18" charset="0"/>
              </a:rPr>
              <a:t> Notebook or Visual Studio Code</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Version Control: Git and </a:t>
            </a:r>
            <a:r>
              <a:rPr lang="en-IN" dirty="0" err="1">
                <a:latin typeface="Times New Roman" panose="02020603050405020304" pitchFamily="18" charset="0"/>
                <a:cs typeface="Times New Roman" panose="02020603050405020304" pitchFamily="18" charset="0"/>
              </a:rPr>
              <a:t>GitHub</a:t>
            </a:r>
            <a:endParaRPr lang="en-IN"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a:t>
            </a:r>
            <a:r>
              <a:rPr lang="en-US" dirty="0" smtClean="0">
                <a:latin typeface="Times New Roman" panose="02020603050405020304" pitchFamily="18" charset="0"/>
                <a:cs typeface="Times New Roman" panose="02020603050405020304" pitchFamily="18" charset="0"/>
              </a:rPr>
              <a:t>      System </a:t>
            </a:r>
            <a:r>
              <a:rPr lang="en-US" dirty="0">
                <a:latin typeface="Times New Roman" panose="02020603050405020304" pitchFamily="18" charset="0"/>
                <a:cs typeface="Times New Roman" panose="02020603050405020304" pitchFamily="18" charset="0"/>
              </a:rPr>
              <a:t>Design</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The system follows a simple data analysis process. First, the customer churn dataset is loaded into Python. The data is then cleaned by removing missing values and duplicate records. After cleaning, Exploratory Data Analysis (EDA) and visualizations are performed to understand customer behavior. Statistical analysis, including correlation, hypothesis testing, and regression analysis, is then carried out. Finally, the results are converted into business insights and recommendations to support better </a:t>
            </a:r>
            <a:r>
              <a:rPr lang="en-US" sz="2000" dirty="0" smtClean="0">
                <a:latin typeface="Times New Roman" panose="02020603050405020304" pitchFamily="18" charset="0"/>
                <a:cs typeface="Times New Roman" panose="02020603050405020304" pitchFamily="18" charset="0"/>
              </a:rPr>
              <a:t>decision-making.</a:t>
            </a:r>
            <a:endParaRPr lang="en-US" sz="2000" dirty="0" smtClean="0">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dirty="0"/>
              <a:t> </a:t>
            </a:r>
            <a:r>
              <a:rPr lang="en-US" altLang="en-US" b="1" dirty="0">
                <a:latin typeface="Times New Roman" panose="02020603050405020304" pitchFamily="18" charset="0"/>
                <a:cs typeface="Times New Roman" panose="02020603050405020304" pitchFamily="18" charset="0"/>
              </a:rPr>
              <a:t>Methodology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b="1" dirty="0">
                <a:latin typeface="Times New Roman" panose="02020603050405020304" pitchFamily="18" charset="0"/>
                <a:cs typeface="Times New Roman" panose="02020603050405020304" pitchFamily="18" charset="0"/>
              </a:rPr>
              <a:t>Data Collection</a:t>
            </a:r>
            <a:r>
              <a:rPr lang="en-US" sz="2000" dirty="0">
                <a:latin typeface="Times New Roman" panose="02020603050405020304" pitchFamily="18" charset="0"/>
                <a:cs typeface="Times New Roman" panose="02020603050405020304" pitchFamily="18" charset="0"/>
              </a:rPr>
              <a:t> – Load the dataset</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Data Cleaning</a:t>
            </a:r>
            <a:r>
              <a:rPr lang="en-US" sz="2000" dirty="0">
                <a:latin typeface="Times New Roman" panose="02020603050405020304" pitchFamily="18" charset="0"/>
                <a:cs typeface="Times New Roman" panose="02020603050405020304" pitchFamily="18" charset="0"/>
              </a:rPr>
              <a:t> – Remove missing values and duplicates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EDA</a:t>
            </a:r>
            <a:r>
              <a:rPr lang="en-US" sz="2000" dirty="0">
                <a:latin typeface="Times New Roman" panose="02020603050405020304" pitchFamily="18" charset="0"/>
                <a:cs typeface="Times New Roman" panose="02020603050405020304" pitchFamily="18" charset="0"/>
              </a:rPr>
              <a:t> – Analyze the data using statistics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Visualization</a:t>
            </a:r>
            <a:r>
              <a:rPr lang="en-US" sz="2000" dirty="0">
                <a:latin typeface="Times New Roman" panose="02020603050405020304" pitchFamily="18" charset="0"/>
                <a:cs typeface="Times New Roman" panose="02020603050405020304" pitchFamily="18" charset="0"/>
              </a:rPr>
              <a:t> – Create charts and graphs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Statistical Analysis</a:t>
            </a:r>
            <a:r>
              <a:rPr lang="en-US" sz="2000" dirty="0">
                <a:latin typeface="Times New Roman" panose="02020603050405020304" pitchFamily="18" charset="0"/>
                <a:cs typeface="Times New Roman" panose="02020603050405020304" pitchFamily="18" charset="0"/>
              </a:rPr>
              <a:t> – Perform correlation, hypothesis testing, and regression</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Business Insights</a:t>
            </a:r>
            <a:r>
              <a:rPr lang="en-US" sz="2000" dirty="0">
                <a:latin typeface="Times New Roman" panose="02020603050405020304" pitchFamily="18" charset="0"/>
                <a:cs typeface="Times New Roman" panose="02020603050405020304" pitchFamily="18" charset="0"/>
              </a:rPr>
              <a:t> – Identify key findings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Recommendations</a:t>
            </a:r>
            <a:r>
              <a:rPr lang="en-IN" sz="2000" dirty="0">
                <a:latin typeface="Times New Roman" panose="02020603050405020304" pitchFamily="18" charset="0"/>
                <a:cs typeface="Times New Roman" panose="02020603050405020304" pitchFamily="18" charset="0"/>
              </a:rPr>
              <a:t> – Suggest solutions to improve customer retention.</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altLang="en-US" b="1" dirty="0">
                <a:latin typeface="Times New Roman" panose="02020603050405020304" pitchFamily="18" charset="0"/>
                <a:cs typeface="Times New Roman" panose="02020603050405020304" pitchFamily="18" charset="0"/>
              </a:rPr>
              <a:t>Expected Outcome</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Clean and organized customer dataset</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Better understanding of customer behavior</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Professional charts and visualizations</a:t>
            </a:r>
            <a:r>
              <a:rPr lang="en-IN" sz="2000" dirty="0" smtClean="0">
                <a:latin typeface="Times New Roman" panose="02020603050405020304" pitchFamily="18" charset="0"/>
                <a:cs typeface="Times New Roman" panose="02020603050405020304" pitchFamily="18" charset="0"/>
              </a:rPr>
              <a:t>.</a:t>
            </a:r>
            <a:endParaRPr lang="en-IN"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Identification of customer churn patterns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Meaningful business insights</a:t>
            </a:r>
            <a:r>
              <a:rPr lang="en-IN" sz="2000" dirty="0" smtClean="0">
                <a:latin typeface="Times New Roman" panose="02020603050405020304" pitchFamily="18" charset="0"/>
                <a:cs typeface="Times New Roman" panose="02020603050405020304" pitchFamily="18" charset="0"/>
              </a:rPr>
              <a:t>.</a:t>
            </a:r>
            <a:endParaRPr lang="en-IN"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Practical recommendations to improve customer retention</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Support for data-driven business decisions.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a:t>
            </a:r>
            <a:r>
              <a:rPr lang="en-US" altLang="en-US" b="1" dirty="0">
                <a:latin typeface="Times New Roman" panose="02020603050405020304" pitchFamily="18" charset="0"/>
                <a:cs typeface="Times New Roman" panose="02020603050405020304" pitchFamily="18" charset="0"/>
              </a:rPr>
              <a:t>Tools &amp; Technologies Used</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IN" sz="2000" b="1" dirty="0">
                <a:latin typeface="Times New Roman" panose="02020603050405020304" pitchFamily="18" charset="0"/>
                <a:cs typeface="Times New Roman" panose="02020603050405020304" pitchFamily="18" charset="0"/>
              </a:rPr>
              <a:t>Language:</a:t>
            </a:r>
            <a:r>
              <a:rPr lang="en-IN" sz="2000" dirty="0">
                <a:latin typeface="Times New Roman" panose="02020603050405020304" pitchFamily="18" charset="0"/>
                <a:cs typeface="Times New Roman" panose="02020603050405020304" pitchFamily="18" charset="0"/>
              </a:rPr>
              <a:t> </a:t>
            </a:r>
            <a:r>
              <a:rPr lang="en-IN" sz="2000" dirty="0" smtClean="0">
                <a:latin typeface="Times New Roman" panose="02020603050405020304" pitchFamily="18" charset="0"/>
                <a:cs typeface="Times New Roman" panose="02020603050405020304" pitchFamily="18" charset="0"/>
              </a:rPr>
              <a:t>Python</a:t>
            </a:r>
            <a:endParaRPr lang="en-IN" sz="2000" dirty="0" smtClean="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Libraries:</a:t>
            </a:r>
            <a:r>
              <a:rPr lang="en-IN" sz="2000" dirty="0">
                <a:latin typeface="Times New Roman" panose="02020603050405020304" pitchFamily="18" charset="0"/>
                <a:cs typeface="Times New Roman" panose="02020603050405020304" pitchFamily="18" charset="0"/>
              </a:rPr>
              <a:t> Pandas, </a:t>
            </a:r>
            <a:r>
              <a:rPr lang="en-IN" sz="2000" dirty="0" err="1">
                <a:latin typeface="Times New Roman" panose="02020603050405020304" pitchFamily="18" charset="0"/>
                <a:cs typeface="Times New Roman" panose="02020603050405020304" pitchFamily="18" charset="0"/>
              </a:rPr>
              <a:t>NumPy</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Matplotlib</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Seaborn</a:t>
            </a:r>
            <a:r>
              <a:rPr lang="en-IN" sz="2000" dirty="0">
                <a:latin typeface="Times New Roman" panose="02020603050405020304" pitchFamily="18" charset="0"/>
                <a:cs typeface="Times New Roman" panose="02020603050405020304" pitchFamily="18" charset="0"/>
              </a:rPr>
              <a:t>, </a:t>
            </a:r>
            <a:r>
              <a:rPr lang="en-IN" sz="2000" dirty="0" err="1" smtClean="0">
                <a:latin typeface="Times New Roman" panose="02020603050405020304" pitchFamily="18" charset="0"/>
                <a:cs typeface="Times New Roman" panose="02020603050405020304" pitchFamily="18" charset="0"/>
              </a:rPr>
              <a:t>Scikit</a:t>
            </a:r>
            <a:r>
              <a:rPr lang="en-IN" sz="2000" dirty="0" smtClean="0">
                <a:latin typeface="Times New Roman" panose="02020603050405020304" pitchFamily="18" charset="0"/>
                <a:cs typeface="Times New Roman" panose="02020603050405020304" pitchFamily="18" charset="0"/>
              </a:rPr>
              <a:t>-learn</a:t>
            </a:r>
            <a:endParaRPr lang="en-IN" sz="2000" dirty="0" smtClean="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IDE:</a:t>
            </a:r>
            <a:r>
              <a:rPr lang="en-IN" sz="2000" dirty="0">
                <a:latin typeface="Times New Roman" panose="02020603050405020304" pitchFamily="18" charset="0"/>
                <a:cs typeface="Times New Roman" panose="02020603050405020304" pitchFamily="18" charset="0"/>
              </a:rPr>
              <a:t> </a:t>
            </a:r>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 VS </a:t>
            </a:r>
            <a:r>
              <a:rPr lang="en-IN" sz="2000" dirty="0" smtClean="0">
                <a:latin typeface="Times New Roman" panose="02020603050405020304" pitchFamily="18" charset="0"/>
                <a:cs typeface="Times New Roman" panose="02020603050405020304" pitchFamily="18" charset="0"/>
              </a:rPr>
              <a:t>Code</a:t>
            </a:r>
            <a:endParaRPr lang="en-IN" sz="2000" dirty="0" smtClean="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Version Control:</a:t>
            </a:r>
            <a:r>
              <a:rPr lang="en-IN" sz="2000" dirty="0">
                <a:latin typeface="Times New Roman" panose="02020603050405020304" pitchFamily="18" charset="0"/>
                <a:cs typeface="Times New Roman" panose="02020603050405020304" pitchFamily="18" charset="0"/>
              </a:rPr>
              <a:t> </a:t>
            </a:r>
            <a:r>
              <a:rPr lang="en-IN" sz="2000" dirty="0" err="1" smtClean="0">
                <a:latin typeface="Times New Roman" panose="02020603050405020304" pitchFamily="18" charset="0"/>
                <a:cs typeface="Times New Roman" panose="02020603050405020304" pitchFamily="18" charset="0"/>
              </a:rPr>
              <a:t>GitHub</a:t>
            </a:r>
            <a:endParaRPr lang="en-IN" sz="2000" dirty="0" smtClean="0">
              <a:latin typeface="Times New Roman" panose="02020603050405020304" pitchFamily="18" charset="0"/>
              <a:cs typeface="Times New Roman" panose="02020603050405020304" pitchFamily="18" charset="0"/>
            </a:endParaRPr>
          </a:p>
          <a:p>
            <a:r>
              <a:rPr lang="en-IN" sz="2000" b="1" dirty="0">
                <a:latin typeface="Times New Roman" panose="02020603050405020304" pitchFamily="18" charset="0"/>
                <a:cs typeface="Times New Roman" panose="02020603050405020304" pitchFamily="18" charset="0"/>
              </a:rPr>
              <a:t>Dataset:</a:t>
            </a:r>
            <a:r>
              <a:rPr lang="en-IN" sz="2000" dirty="0">
                <a:latin typeface="Times New Roman" panose="02020603050405020304" pitchFamily="18" charset="0"/>
                <a:cs typeface="Times New Roman" panose="02020603050405020304" pitchFamily="18" charset="0"/>
              </a:rPr>
              <a:t> Customer Churn Dataset</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Advantages of the project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r>
              <a:rPr lang="en-US" sz="2000" dirty="0">
                <a:latin typeface="Times New Roman" panose="02020603050405020304" pitchFamily="18" charset="0"/>
                <a:cs typeface="Times New Roman" panose="02020603050405020304" pitchFamily="18" charset="0"/>
              </a:rPr>
              <a:t>Improves understanding of customer behavior</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Identifies customer churn patterns</a:t>
            </a:r>
            <a:r>
              <a:rPr lang="en-IN" sz="2000" dirty="0" smtClean="0">
                <a:latin typeface="Times New Roman" panose="02020603050405020304" pitchFamily="18" charset="0"/>
                <a:cs typeface="Times New Roman" panose="02020603050405020304" pitchFamily="18" charset="0"/>
              </a:rPr>
              <a:t>.</a:t>
            </a:r>
            <a:endParaRPr lang="en-IN" sz="2000" dirty="0" smtClean="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Supports data-driven decision-making</a:t>
            </a:r>
            <a:r>
              <a:rPr lang="en-IN" sz="2000" dirty="0" smtClean="0">
                <a:latin typeface="Times New Roman" panose="02020603050405020304" pitchFamily="18" charset="0"/>
                <a:cs typeface="Times New Roman" panose="02020603050405020304" pitchFamily="18" charset="0"/>
              </a:rPr>
              <a:t>.</a:t>
            </a:r>
            <a:endParaRPr lang="en-IN" sz="2000" dirty="0" smtClean="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Helps improve customer retention</a:t>
            </a:r>
            <a:r>
              <a:rPr lang="en-IN" sz="2000" dirty="0" smtClean="0">
                <a:latin typeface="Times New Roman" panose="02020603050405020304" pitchFamily="18" charset="0"/>
                <a:cs typeface="Times New Roman" panose="02020603050405020304" pitchFamily="18" charset="0"/>
              </a:rPr>
              <a:t>.</a:t>
            </a:r>
            <a:endParaRPr lang="en-IN" sz="2000" dirty="0" smtClean="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Generates meaningful business insights</a:t>
            </a:r>
            <a:r>
              <a:rPr lang="en-IN" sz="2000" dirty="0" smtClean="0">
                <a:latin typeface="Times New Roman" panose="02020603050405020304" pitchFamily="18" charset="0"/>
                <a:cs typeface="Times New Roman" panose="02020603050405020304" pitchFamily="18" charset="0"/>
              </a:rPr>
              <a:t>.</a:t>
            </a:r>
            <a:endParaRPr lang="en-IN"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Easy to implement using Python</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Provides practical business recommendations.</a:t>
            </a:r>
            <a:endParaRPr lang="en-IN"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Future of the Project</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Implement machine learning models for churn prediction</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Develop an interactive business dashboard</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Use real-time customer data for analysis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Improve prediction accuracy with larger datasets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Integrate AI for personalized customer recommendations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Expand the analysis to multiple business domains</a:t>
            </a:r>
            <a:r>
              <a:rPr lang="en-US" sz="2000" dirty="0" smtClean="0">
                <a:latin typeface="Times New Roman" panose="02020603050405020304" pitchFamily="18" charset="0"/>
                <a:cs typeface="Times New Roman" panose="02020603050405020304" pitchFamily="18" charset="0"/>
              </a:rPr>
              <a: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Support better business decision-making in the future</a:t>
            </a:r>
            <a:r>
              <a:rPr lang="en-US" dirty="0"/>
              <a:t>.</a:t>
            </a:r>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anose="02020603050405020304" pitchFamily="18" charset="0"/>
                <a:cs typeface="Times New Roman" panose="02020603050405020304" pitchFamily="18" charset="0"/>
              </a:rPr>
              <a:t>                    </a:t>
            </a:r>
            <a:r>
              <a:rPr lang="en-US" altLang="en-US" b="1"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fr-FR" sz="2000" dirty="0">
                <a:latin typeface="Times New Roman" panose="02020603050405020304" pitchFamily="18" charset="0"/>
                <a:cs typeface="Times New Roman" panose="02020603050405020304" pitchFamily="18" charset="0"/>
              </a:rPr>
              <a:t>Python Official Documentation – </a:t>
            </a:r>
            <a:r>
              <a:rPr lang="fr-FR" sz="2000" dirty="0">
                <a:latin typeface="Times New Roman" panose="02020603050405020304" pitchFamily="18" charset="0"/>
                <a:cs typeface="Times New Roman" panose="02020603050405020304" pitchFamily="18" charset="0"/>
                <a:hlinkClick r:id="rId1"/>
              </a:rPr>
              <a:t>https://</a:t>
            </a:r>
            <a:r>
              <a:rPr lang="fr-FR" sz="2000" dirty="0" smtClean="0">
                <a:latin typeface="Times New Roman" panose="02020603050405020304" pitchFamily="18" charset="0"/>
                <a:cs typeface="Times New Roman" panose="02020603050405020304" pitchFamily="18" charset="0"/>
                <a:hlinkClick r:id="rId1"/>
              </a:rPr>
              <a:t>www.python.org</a:t>
            </a:r>
            <a:endParaRPr lang="fr-FR" sz="2000" dirty="0" smtClean="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Pandas Documentation – </a:t>
            </a:r>
            <a:r>
              <a:rPr lang="en-IN" sz="2000" dirty="0">
                <a:latin typeface="Times New Roman" panose="02020603050405020304" pitchFamily="18" charset="0"/>
                <a:cs typeface="Times New Roman" panose="02020603050405020304" pitchFamily="18" charset="0"/>
                <a:hlinkClick r:id="rId2"/>
              </a:rPr>
              <a:t>https://</a:t>
            </a:r>
            <a:r>
              <a:rPr lang="en-IN" sz="2000" dirty="0" smtClean="0">
                <a:latin typeface="Times New Roman" panose="02020603050405020304" pitchFamily="18" charset="0"/>
                <a:cs typeface="Times New Roman" panose="02020603050405020304" pitchFamily="18" charset="0"/>
                <a:hlinkClick r:id="rId2"/>
              </a:rPr>
              <a:t>pandas.pydata.org</a:t>
            </a:r>
            <a:endParaRPr lang="en-IN" sz="2000" dirty="0" smtClean="0">
              <a:latin typeface="Times New Roman" panose="02020603050405020304" pitchFamily="18" charset="0"/>
              <a:cs typeface="Times New Roman" panose="02020603050405020304" pitchFamily="18" charset="0"/>
            </a:endParaRPr>
          </a:p>
          <a:p>
            <a:r>
              <a:rPr lang="en-IN" sz="2000" dirty="0" err="1">
                <a:latin typeface="Times New Roman" panose="02020603050405020304" pitchFamily="18" charset="0"/>
                <a:cs typeface="Times New Roman" panose="02020603050405020304" pitchFamily="18" charset="0"/>
              </a:rPr>
              <a:t>NumPy</a:t>
            </a:r>
            <a:r>
              <a:rPr lang="en-IN" sz="2000" dirty="0">
                <a:latin typeface="Times New Roman" panose="02020603050405020304" pitchFamily="18" charset="0"/>
                <a:cs typeface="Times New Roman" panose="02020603050405020304" pitchFamily="18" charset="0"/>
              </a:rPr>
              <a:t> Documentation – </a:t>
            </a:r>
            <a:r>
              <a:rPr lang="en-IN" sz="2000" dirty="0">
                <a:latin typeface="Times New Roman" panose="02020603050405020304" pitchFamily="18" charset="0"/>
                <a:cs typeface="Times New Roman" panose="02020603050405020304" pitchFamily="18" charset="0"/>
                <a:hlinkClick r:id="rId3"/>
              </a:rPr>
              <a:t>https://</a:t>
            </a:r>
            <a:r>
              <a:rPr lang="en-IN" sz="2000" dirty="0" smtClean="0">
                <a:latin typeface="Times New Roman" panose="02020603050405020304" pitchFamily="18" charset="0"/>
                <a:cs typeface="Times New Roman" panose="02020603050405020304" pitchFamily="18" charset="0"/>
                <a:hlinkClick r:id="rId3"/>
              </a:rPr>
              <a:t>numpy.org</a:t>
            </a:r>
            <a:endParaRPr lang="en-IN" sz="2000" dirty="0" smtClean="0">
              <a:latin typeface="Times New Roman" panose="02020603050405020304" pitchFamily="18" charset="0"/>
              <a:cs typeface="Times New Roman" panose="02020603050405020304" pitchFamily="18" charset="0"/>
            </a:endParaRPr>
          </a:p>
          <a:p>
            <a:r>
              <a:rPr lang="en-IN" sz="2000" dirty="0" err="1">
                <a:latin typeface="Times New Roman" panose="02020603050405020304" pitchFamily="18" charset="0"/>
                <a:cs typeface="Times New Roman" panose="02020603050405020304" pitchFamily="18" charset="0"/>
              </a:rPr>
              <a:t>Matplotlib</a:t>
            </a:r>
            <a:r>
              <a:rPr lang="en-IN" sz="2000" dirty="0">
                <a:latin typeface="Times New Roman" panose="02020603050405020304" pitchFamily="18" charset="0"/>
                <a:cs typeface="Times New Roman" panose="02020603050405020304" pitchFamily="18" charset="0"/>
              </a:rPr>
              <a:t> Documentation – </a:t>
            </a:r>
            <a:r>
              <a:rPr lang="en-IN" sz="2000" dirty="0">
                <a:latin typeface="Times New Roman" panose="02020603050405020304" pitchFamily="18" charset="0"/>
                <a:cs typeface="Times New Roman" panose="02020603050405020304" pitchFamily="18" charset="0"/>
                <a:hlinkClick r:id="rId4"/>
              </a:rPr>
              <a:t>https://</a:t>
            </a:r>
            <a:r>
              <a:rPr lang="en-IN" sz="2000" dirty="0" smtClean="0">
                <a:latin typeface="Times New Roman" panose="02020603050405020304" pitchFamily="18" charset="0"/>
                <a:cs typeface="Times New Roman" panose="02020603050405020304" pitchFamily="18" charset="0"/>
                <a:hlinkClick r:id="rId4"/>
              </a:rPr>
              <a:t>matplotlib.org</a:t>
            </a:r>
            <a:endParaRPr lang="en-IN" sz="2000" dirty="0" smtClean="0">
              <a:latin typeface="Times New Roman" panose="02020603050405020304" pitchFamily="18" charset="0"/>
              <a:cs typeface="Times New Roman" panose="02020603050405020304" pitchFamily="18" charset="0"/>
            </a:endParaRPr>
          </a:p>
          <a:p>
            <a:r>
              <a:rPr lang="en-IN" sz="2000" dirty="0" err="1">
                <a:latin typeface="Times New Roman" panose="02020603050405020304" pitchFamily="18" charset="0"/>
                <a:cs typeface="Times New Roman" panose="02020603050405020304" pitchFamily="18" charset="0"/>
              </a:rPr>
              <a:t>Seaborn</a:t>
            </a:r>
            <a:r>
              <a:rPr lang="en-IN" sz="2000" dirty="0">
                <a:latin typeface="Times New Roman" panose="02020603050405020304" pitchFamily="18" charset="0"/>
                <a:cs typeface="Times New Roman" panose="02020603050405020304" pitchFamily="18" charset="0"/>
              </a:rPr>
              <a:t> Documentation – </a:t>
            </a:r>
            <a:r>
              <a:rPr lang="en-IN" sz="2000" dirty="0">
                <a:latin typeface="Times New Roman" panose="02020603050405020304" pitchFamily="18" charset="0"/>
                <a:cs typeface="Times New Roman" panose="02020603050405020304" pitchFamily="18" charset="0"/>
                <a:hlinkClick r:id="rId5"/>
              </a:rPr>
              <a:t>https://</a:t>
            </a:r>
            <a:r>
              <a:rPr lang="en-IN" sz="2000" dirty="0" smtClean="0">
                <a:latin typeface="Times New Roman" panose="02020603050405020304" pitchFamily="18" charset="0"/>
                <a:cs typeface="Times New Roman" panose="02020603050405020304" pitchFamily="18" charset="0"/>
                <a:hlinkClick r:id="rId5"/>
              </a:rPr>
              <a:t>seaborn.pydata.org</a:t>
            </a:r>
            <a:endParaRPr lang="en-IN" sz="2000" dirty="0" smtClean="0">
              <a:latin typeface="Times New Roman" panose="02020603050405020304" pitchFamily="18" charset="0"/>
              <a:cs typeface="Times New Roman" panose="02020603050405020304" pitchFamily="18" charset="0"/>
            </a:endParaRPr>
          </a:p>
          <a:p>
            <a:r>
              <a:rPr lang="en-IN" sz="2000" dirty="0" err="1">
                <a:latin typeface="Times New Roman" panose="02020603050405020304" pitchFamily="18" charset="0"/>
                <a:cs typeface="Times New Roman" panose="02020603050405020304" pitchFamily="18" charset="0"/>
              </a:rPr>
              <a:t>Scikit</a:t>
            </a:r>
            <a:r>
              <a:rPr lang="en-IN" sz="2000" dirty="0">
                <a:latin typeface="Times New Roman" panose="02020603050405020304" pitchFamily="18" charset="0"/>
                <a:cs typeface="Times New Roman" panose="02020603050405020304" pitchFamily="18" charset="0"/>
              </a:rPr>
              <a:t>-learn Documentation – </a:t>
            </a:r>
            <a:r>
              <a:rPr lang="en-IN" sz="2000" dirty="0">
                <a:latin typeface="Times New Roman" panose="02020603050405020304" pitchFamily="18" charset="0"/>
                <a:cs typeface="Times New Roman" panose="02020603050405020304" pitchFamily="18" charset="0"/>
                <a:hlinkClick r:id="rId6"/>
              </a:rPr>
              <a:t>https://</a:t>
            </a:r>
            <a:r>
              <a:rPr lang="en-IN" sz="2000" dirty="0" smtClean="0">
                <a:latin typeface="Times New Roman" panose="02020603050405020304" pitchFamily="18" charset="0"/>
                <a:cs typeface="Times New Roman" panose="02020603050405020304" pitchFamily="18" charset="0"/>
                <a:hlinkClick r:id="rId6"/>
              </a:rPr>
              <a:t>scikit-learn.org</a:t>
            </a:r>
            <a:endParaRPr lang="en-IN"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Customer Churn Dataset (Course Dataset</a:t>
            </a:r>
            <a:r>
              <a:rPr lang="en-US" dirty="0"/>
              <a:t>)</a:t>
            </a:r>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r>
              <a:rPr lang="en-US" sz="2000" dirty="0">
                <a:latin typeface="Times New Roman" panose="02020603050405020304" pitchFamily="18" charset="0"/>
                <a:cs typeface="Times New Roman" panose="02020603050405020304" pitchFamily="18" charset="0"/>
              </a:rPr>
              <a:t>This project successfully analyzed the Customer Churn dataset using Python. Data cleaning, exploratory data analysis, visualization, and statistical analysis were performed to identify customer churn patterns. The project provided meaningful business insights and practical recommendations to improve customer retention and support better business decision-making</a:t>
            </a:r>
            <a:r>
              <a:rPr lang="en-US" dirty="0"/>
              <a:t>.</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Thank you….</a:t>
            </a:r>
            <a:endParaRPr lang="en-IN" dirty="0"/>
          </a:p>
        </p:txBody>
      </p:sp>
      <p:sp>
        <p:nvSpPr>
          <p:cNvPr id="3" name="Subtitle 2"/>
          <p:cNvSpPr>
            <a:spLocks noGrp="1"/>
          </p:cNvSpPr>
          <p:nvPr>
            <p:ph type="subTitle" idx="1"/>
          </p:nvPr>
        </p:nvSpPr>
        <p:spPr>
          <a:xfrm>
            <a:off x="1816735" y="6342380"/>
            <a:ext cx="8390255" cy="156210"/>
          </a:xfrm>
        </p:spPr>
        <p:txBody>
          <a:bodyPr>
            <a:normAutofit fontScale="25000"/>
          </a:bodyPr>
          <a:lstStyle/>
          <a:p>
            <a:endParaRPr lang="en-IN"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fillRect/>
          </a:stretch>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0</TotalTime>
  <Words>5740</Words>
  <Application>WPS Presentation</Application>
  <PresentationFormat>Widescreen</PresentationFormat>
  <Paragraphs>122</Paragraphs>
  <Slides>15</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15</vt:i4>
      </vt:variant>
    </vt:vector>
  </HeadingPairs>
  <TitlesOfParts>
    <vt:vector size="26" baseType="lpstr">
      <vt:lpstr>Arial</vt:lpstr>
      <vt:lpstr>SimSun</vt:lpstr>
      <vt:lpstr>Wingdings</vt:lpstr>
      <vt:lpstr>Wingdings 3</vt:lpstr>
      <vt:lpstr>Arial</vt:lpstr>
      <vt:lpstr>Times New Roman</vt:lpstr>
      <vt:lpstr>Century Gothic</vt:lpstr>
      <vt:lpstr>Microsoft YaHei</vt:lpstr>
      <vt:lpstr>Arial Unicode MS</vt:lpstr>
      <vt:lpstr>Calibri</vt:lpstr>
      <vt:lpstr>Ion Boardroom</vt:lpstr>
      <vt:lpstr>Customer Churn Business    Analysis                                Submiteed by-Auti Trupti Goraksh</vt:lpstr>
      <vt:lpstr>                     Introduction</vt:lpstr>
      <vt:lpstr>            Objectives of the Project</vt:lpstr>
      <vt:lpstr>              Problem Definition</vt:lpstr>
      <vt:lpstr>               Scope of the Project</vt:lpstr>
      <vt:lpstr>            System Requirements</vt:lpstr>
      <vt:lpstr>                   System Design</vt:lpstr>
      <vt:lpstr>              Methodology </vt:lpstr>
      <vt:lpstr>            Expected Outcome</vt:lpstr>
      <vt:lpstr>       Tools &amp; Technologies Used</vt:lpstr>
      <vt:lpstr>              Advantages of the project</vt:lpstr>
      <vt:lpstr>               Future of the Project</vt:lpstr>
      <vt:lpstr>                    References</vt:lpstr>
      <vt:lpstr>                       Conclusion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Customer Churn Business Analysis</dc:title>
  <dc:creator>Owner</dc:creator>
  <cp:lastModifiedBy>Owner</cp:lastModifiedBy>
  <cp:revision>19</cp:revision>
  <dcterms:created xsi:type="dcterms:W3CDTF">2026-07-03T08:49:00Z</dcterms:created>
  <dcterms:modified xsi:type="dcterms:W3CDTF">2026-07-03T11:11:12Z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64B9B81A38A549D098541EB68F749E50_12</vt:lpwstr>
  </property>
  <property fmtid="{D5CDD505-2E9C-101B-9397-08002B2CF9AE}" pid="3" name="KSOProductBuildVer">
    <vt:lpwstr>1033-12.1.0.26880</vt:lpwstr>
  </property>
</Properties>
</file>